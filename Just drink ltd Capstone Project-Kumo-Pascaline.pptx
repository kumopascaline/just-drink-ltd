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1" r:id="rId3"/>
    <p:sldId id="272" r:id="rId4"/>
    <p:sldId id="273" r:id="rId5"/>
    <p:sldId id="274" r:id="rId6"/>
    <p:sldId id="275" r:id="rId7"/>
    <p:sldId id="276" r:id="rId8"/>
    <p:sldId id="278" r:id="rId9"/>
    <p:sldId id="277" r:id="rId10"/>
    <p:sldId id="279" r:id="rId11"/>
    <p:sldId id="280" r:id="rId12"/>
    <p:sldId id="281" r:id="rId13"/>
    <p:sldId id="282" r:id="rId14"/>
    <p:sldId id="283" r:id="rId15"/>
    <p:sldId id="284" r:id="rId16"/>
    <p:sldId id="270" r:id="rId17"/>
    <p:sldId id="285" r:id="rId18"/>
    <p:sldId id="286" r:id="rId19"/>
    <p:sldId id="287" r:id="rId20"/>
    <p:sldId id="288" r:id="rId21"/>
    <p:sldId id="259" r:id="rId22"/>
    <p:sldId id="260" r:id="rId23"/>
    <p:sldId id="262" r:id="rId24"/>
    <p:sldId id="264" r:id="rId25"/>
    <p:sldId id="266" r:id="rId26"/>
    <p:sldId id="267" r:id="rId27"/>
    <p:sldId id="290"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2A4593-F2F7-4926-8D21-12E77EF36041}" v="26" dt="2025-11-18T08:53:36.972"/>
    <p1510:client id="{90BDEA7A-FEB8-4E61-BBA0-C3CCC847088B}" v="23" dt="2025-11-18T07:43:12.4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64" autoAdjust="0"/>
  </p:normalViewPr>
  <p:slideViewPr>
    <p:cSldViewPr>
      <p:cViewPr varScale="1">
        <p:scale>
          <a:sx n="95" d="100"/>
          <a:sy n="95" d="100"/>
        </p:scale>
        <p:origin x="-1090"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90BDEA7A-FEB8-4E61-BBA0-C3CCC847088B}"/>
    <pc:docChg chg="modSld">
      <pc:chgData name="Guest User" userId="" providerId="Windows Live" clId="Web-{90BDEA7A-FEB8-4E61-BBA0-C3CCC847088B}" dt="2025-11-18T07:43:12.415" v="24" actId="20577"/>
      <pc:docMkLst>
        <pc:docMk/>
      </pc:docMkLst>
      <pc:sldChg chg="modSp">
        <pc:chgData name="Guest User" userId="" providerId="Windows Live" clId="Web-{90BDEA7A-FEB8-4E61-BBA0-C3CCC847088B}" dt="2025-11-18T07:43:12.415" v="24" actId="20577"/>
        <pc:sldMkLst>
          <pc:docMk/>
          <pc:sldMk cId="2861463063" sldId="275"/>
        </pc:sldMkLst>
        <pc:spChg chg="mod">
          <ac:chgData name="Guest User" userId="" providerId="Windows Live" clId="Web-{90BDEA7A-FEB8-4E61-BBA0-C3CCC847088B}" dt="2025-11-18T07:43:12.415" v="24" actId="20577"/>
          <ac:spMkLst>
            <pc:docMk/>
            <pc:sldMk cId="2861463063" sldId="275"/>
            <ac:spMk id="3" creationId="{00000000-0000-0000-0000-000000000000}"/>
          </ac:spMkLst>
        </pc:spChg>
      </pc:sldChg>
    </pc:docChg>
  </pc:docChgLst>
  <pc:docChgLst>
    <pc:chgData name="Linea Mwayolomiva Kayavala" userId="e388548c35f3ed87" providerId="Windows Live" clId="Web-{592A4593-F2F7-4926-8D21-12E77EF36041}"/>
    <pc:docChg chg="modSld">
      <pc:chgData name="Linea Mwayolomiva Kayavala" userId="e388548c35f3ed87" providerId="Windows Live" clId="Web-{592A4593-F2F7-4926-8D21-12E77EF36041}" dt="2025-11-18T08:53:35.488" v="24" actId="20577"/>
      <pc:docMkLst>
        <pc:docMk/>
      </pc:docMkLst>
      <pc:sldChg chg="modSp">
        <pc:chgData name="Linea Mwayolomiva Kayavala" userId="e388548c35f3ed87" providerId="Windows Live" clId="Web-{592A4593-F2F7-4926-8D21-12E77EF36041}" dt="2025-11-18T08:53:35.488" v="24" actId="20577"/>
        <pc:sldMkLst>
          <pc:docMk/>
          <pc:sldMk cId="2593115516" sldId="282"/>
        </pc:sldMkLst>
        <pc:spChg chg="mod">
          <ac:chgData name="Linea Mwayolomiva Kayavala" userId="e388548c35f3ed87" providerId="Windows Live" clId="Web-{592A4593-F2F7-4926-8D21-12E77EF36041}" dt="2025-11-18T08:53:35.488" v="24" actId="20577"/>
          <ac:spMkLst>
            <pc:docMk/>
            <pc:sldMk cId="2593115516" sldId="282"/>
            <ac:spMk id="3" creationId="{00000000-0000-0000-0000-000000000000}"/>
          </ac:spMkLst>
        </pc:spChg>
      </pc:sldChg>
      <pc:sldChg chg="modSp">
        <pc:chgData name="Linea Mwayolomiva Kayavala" userId="e388548c35f3ed87" providerId="Windows Live" clId="Web-{592A4593-F2F7-4926-8D21-12E77EF36041}" dt="2025-11-18T08:52:15.517" v="6" actId="20577"/>
        <pc:sldMkLst>
          <pc:docMk/>
          <pc:sldMk cId="3656211663" sldId="283"/>
        </pc:sldMkLst>
        <pc:spChg chg="mod">
          <ac:chgData name="Linea Mwayolomiva Kayavala" userId="e388548c35f3ed87" providerId="Windows Live" clId="Web-{592A4593-F2F7-4926-8D21-12E77EF36041}" dt="2025-11-18T08:52:15.517" v="6" actId="20577"/>
          <ac:spMkLst>
            <pc:docMk/>
            <pc:sldMk cId="3656211663" sldId="283"/>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1D8BD707-D9CF-40AE-B4C6-C98DA3205C09}" type="datetimeFigureOut">
              <a:rPr lang="en-US" smtClean="0"/>
              <a:pPr/>
              <a:t>2/8/2026</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B6F15528-21DE-4FAA-801E-634DDDAF4B2B}"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1D8BD707-D9CF-40AE-B4C6-C98DA3205C09}" type="datetimeFigureOut">
              <a:rPr lang="en-US" smtClean="0"/>
              <a:pPr/>
              <a:t>2/8/2026</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B6F15528-21DE-4FAA-801E-634DDDAF4B2B}"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1D8BD707-D9CF-40AE-B4C6-C98DA3205C09}" type="datetimeFigureOut">
              <a:rPr lang="en-US" smtClean="0"/>
              <a:pPr/>
              <a:t>2/8/2026</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F15528-21DE-4FAA-801E-634DDDAF4B2B}"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3717758"/>
            <a:ext cx="6858000" cy="1159042"/>
          </a:xfrm>
        </p:spPr>
        <p:txBody>
          <a:bodyPr>
            <a:noAutofit/>
          </a:bodyPr>
          <a:lstStyle/>
          <a:p>
            <a:r>
              <a:rPr lang="en-US" sz="3600" b="1" dirty="0"/>
              <a:t>PAMGOLET JUST DRINK LTD DASHBOARD</a:t>
            </a:r>
          </a:p>
        </p:txBody>
      </p:sp>
      <p:sp>
        <p:nvSpPr>
          <p:cNvPr id="3" name="Subtitle 2"/>
          <p:cNvSpPr>
            <a:spLocks noGrp="1"/>
          </p:cNvSpPr>
          <p:nvPr>
            <p:ph type="subTitle" idx="1"/>
          </p:nvPr>
        </p:nvSpPr>
        <p:spPr/>
        <p:txBody>
          <a:bodyPr>
            <a:normAutofit/>
          </a:bodyPr>
          <a:lstStyle/>
          <a:p>
            <a:r>
              <a:rPr lang="en-US" sz="2400" dirty="0"/>
              <a:t>Wine and Spirits</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9931" b="4792"/>
          <a:stretch/>
        </p:blipFill>
        <p:spPr>
          <a:xfrm>
            <a:off x="4495800" y="-152400"/>
            <a:ext cx="3755795" cy="3870158"/>
          </a:xfrm>
          <a:prstGeom prst="rect">
            <a:avLst/>
          </a:prstGeom>
        </p:spPr>
      </p:pic>
      <p:pic>
        <p:nvPicPr>
          <p:cNvPr id="15364" name="Picture 4" descr="Buy Purity Connoisseur 51 Reserve Organic Vodka"/>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4938" r="24603"/>
          <a:stretch/>
        </p:blipFill>
        <p:spPr bwMode="auto">
          <a:xfrm>
            <a:off x="914400" y="76200"/>
            <a:ext cx="1395663" cy="3535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75208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Sales Breakdown</a:t>
            </a:r>
          </a:p>
        </p:txBody>
      </p:sp>
      <p:sp>
        <p:nvSpPr>
          <p:cNvPr id="3" name="Content Placeholder 2"/>
          <p:cNvSpPr>
            <a:spLocks noGrp="1"/>
          </p:cNvSpPr>
          <p:nvPr>
            <p:ph sz="quarter" idx="1"/>
          </p:nvPr>
        </p:nvSpPr>
        <p:spPr>
          <a:xfrm>
            <a:off x="152400" y="1295400"/>
            <a:ext cx="8839200" cy="2743200"/>
          </a:xfrm>
        </p:spPr>
        <p:txBody>
          <a:bodyPr>
            <a:normAutofit fontScale="77500" lnSpcReduction="20000"/>
          </a:bodyPr>
          <a:lstStyle/>
          <a:p>
            <a:r>
              <a:rPr lang="en-US" dirty="0"/>
              <a:t>Just Drink ltd had total sales reaching </a:t>
            </a:r>
            <a:r>
              <a:rPr lang="en-US" b="1" dirty="0"/>
              <a:t>452.06M</a:t>
            </a:r>
            <a:r>
              <a:rPr lang="en-US" dirty="0"/>
              <a:t>, total profit at </a:t>
            </a:r>
            <a:r>
              <a:rPr lang="en-US" b="1" dirty="0"/>
              <a:t>142.36M</a:t>
            </a:r>
            <a:r>
              <a:rPr lang="en-US" dirty="0"/>
              <a:t>, and a healthy </a:t>
            </a:r>
            <a:r>
              <a:rPr lang="en-US" b="1" dirty="0"/>
              <a:t>profit margin of 31.49%</a:t>
            </a:r>
            <a:r>
              <a:rPr lang="en-US" dirty="0"/>
              <a:t>, indicating efficient cost management and solid profitability. </a:t>
            </a:r>
          </a:p>
          <a:p>
            <a:r>
              <a:rPr lang="en-US" dirty="0"/>
              <a:t>Spirits dominate the product mix, contributing </a:t>
            </a:r>
            <a:r>
              <a:rPr lang="en-US" b="1" dirty="0"/>
              <a:t>290.17M</a:t>
            </a:r>
            <a:r>
              <a:rPr lang="en-US" dirty="0"/>
              <a:t> in sales (about </a:t>
            </a:r>
            <a:r>
              <a:rPr lang="en-US" b="1" dirty="0"/>
              <a:t>64.19%</a:t>
            </a:r>
            <a:r>
              <a:rPr lang="en-US" dirty="0"/>
              <a:t> of total), while wine accounts for </a:t>
            </a:r>
            <a:r>
              <a:rPr lang="en-US" b="1" dirty="0"/>
              <a:t>161.90M</a:t>
            </a:r>
            <a:r>
              <a:rPr lang="en-US" dirty="0"/>
              <a:t> (around </a:t>
            </a:r>
            <a:r>
              <a:rPr lang="en-US" b="1" dirty="0"/>
              <a:t>35.81%</a:t>
            </a:r>
            <a:r>
              <a:rPr lang="en-US" dirty="0"/>
              <a:t>), suggesting a higher consumer demand or pricing strength in the spirit category. </a:t>
            </a:r>
          </a:p>
          <a:p>
            <a:r>
              <a:rPr lang="en-US" dirty="0"/>
              <a:t>The total purchase cost of </a:t>
            </a:r>
            <a:r>
              <a:rPr lang="en-US" b="1" dirty="0"/>
              <a:t>321.90M</a:t>
            </a:r>
            <a:r>
              <a:rPr lang="en-US" dirty="0"/>
              <a:t> supports a sustainable margin structure, and the breakdown highlights opportunities to optimize wine sales and further enhance profitability through targeted strategies.</a:t>
            </a:r>
          </a:p>
        </p:txBody>
      </p:sp>
      <p:pic>
        <p:nvPicPr>
          <p:cNvPr id="1027" name="Picture 3"/>
          <p:cNvPicPr>
            <a:picLocks noGrp="1" noChangeAspect="1" noChangeArrowheads="1"/>
          </p:cNvPicPr>
          <p:nvPr>
            <p:ph sz="quarter" idx="2"/>
          </p:nvPr>
        </p:nvPicPr>
        <p:blipFill rotWithShape="1">
          <a:blip r:embed="rId2">
            <a:extLst>
              <a:ext uri="{28A0092B-C50C-407E-A947-70E740481C1C}">
                <a14:useLocalDpi xmlns:a14="http://schemas.microsoft.com/office/drawing/2010/main" val="0"/>
              </a:ext>
            </a:extLst>
          </a:blip>
          <a:srcRect l="-1" t="1285" r="1146"/>
          <a:stretch/>
        </p:blipFill>
        <p:spPr bwMode="auto">
          <a:xfrm>
            <a:off x="148389" y="4038600"/>
            <a:ext cx="8995611" cy="2616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85967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76200" y="274638"/>
            <a:ext cx="8991600" cy="792162"/>
          </a:xfrm>
        </p:spPr>
        <p:txBody>
          <a:bodyPr>
            <a:normAutofit fontScale="90000"/>
          </a:bodyPr>
          <a:lstStyle/>
          <a:p>
            <a:r>
              <a:rPr lang="en-US" dirty="0"/>
              <a:t>Top 5 Most Popular Sizes by Sales and Quantity</a:t>
            </a:r>
          </a:p>
        </p:txBody>
      </p:sp>
      <p:sp>
        <p:nvSpPr>
          <p:cNvPr id="3" name="Content Placeholder 2"/>
          <p:cNvSpPr>
            <a:spLocks noGrp="1"/>
          </p:cNvSpPr>
          <p:nvPr>
            <p:ph sz="quarter" idx="1"/>
          </p:nvPr>
        </p:nvSpPr>
        <p:spPr>
          <a:xfrm>
            <a:off x="228600" y="1600200"/>
            <a:ext cx="8686800" cy="2362200"/>
          </a:xfrm>
        </p:spPr>
        <p:txBody>
          <a:bodyPr>
            <a:normAutofit/>
          </a:bodyPr>
          <a:lstStyle/>
          <a:p>
            <a:r>
              <a:rPr lang="en-US" dirty="0"/>
              <a:t>The 750 mL size is the top performer for both wine and spirits in sales and quantity. Wine leads in 1.5 L, while spirits dominate the 1.75 L segment. Smaller sizes show low demand, confirming 750 mL as the preferred consumer choice.</a:t>
            </a:r>
          </a:p>
        </p:txBody>
      </p:sp>
      <p:pic>
        <p:nvPicPr>
          <p:cNvPr id="2050" name="Picture 2"/>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tretch>
            <a:fillRect/>
          </a:stretch>
        </p:blipFill>
        <p:spPr bwMode="auto">
          <a:xfrm>
            <a:off x="20053" y="4191000"/>
            <a:ext cx="9080122" cy="2474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35418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28600" y="152400"/>
            <a:ext cx="8610600" cy="990600"/>
          </a:xfrm>
        </p:spPr>
        <p:txBody>
          <a:bodyPr>
            <a:normAutofit fontScale="90000"/>
          </a:bodyPr>
          <a:lstStyle/>
          <a:p>
            <a:r>
              <a:rPr lang="en-US" dirty="0"/>
              <a:t>Store with The Highest and Lowest Sales Price</a:t>
            </a:r>
          </a:p>
        </p:txBody>
      </p:sp>
      <p:sp>
        <p:nvSpPr>
          <p:cNvPr id="3" name="Content Placeholder 2"/>
          <p:cNvSpPr>
            <a:spLocks noGrp="1"/>
          </p:cNvSpPr>
          <p:nvPr>
            <p:ph sz="quarter" idx="1"/>
          </p:nvPr>
        </p:nvSpPr>
        <p:spPr>
          <a:xfrm>
            <a:off x="228600" y="1600200"/>
            <a:ext cx="8686800" cy="2362200"/>
          </a:xfrm>
        </p:spPr>
        <p:txBody>
          <a:bodyPr>
            <a:normAutofit fontScale="85000" lnSpcReduction="10000"/>
          </a:bodyPr>
          <a:lstStyle/>
          <a:p>
            <a:r>
              <a:rPr lang="en-US" b="1" dirty="0"/>
              <a:t>Top Sales: </a:t>
            </a:r>
            <a:r>
              <a:rPr lang="en-US" dirty="0"/>
              <a:t>Stores with the highest average sales prices are Store 76 and Store 66, with spirits priced around 22 and wines around 15–16.</a:t>
            </a:r>
          </a:p>
          <a:p>
            <a:endParaRPr lang="en-US" dirty="0"/>
          </a:p>
          <a:p>
            <a:r>
              <a:rPr lang="en-US" b="1" dirty="0"/>
              <a:t>Lowest Sales: </a:t>
            </a:r>
            <a:r>
              <a:rPr lang="en-US" dirty="0"/>
              <a:t>In contrast, Store 26 and Store 29 offer the lowest prices, with both categories averaging around 10–11. This suggests pricing varies significantly by store, likely due to location, customer base, or strategy.</a:t>
            </a:r>
          </a:p>
        </p:txBody>
      </p:sp>
      <p:pic>
        <p:nvPicPr>
          <p:cNvPr id="3074" name="Picture 2"/>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bwMode="auto">
          <a:xfrm>
            <a:off x="152400" y="4191000"/>
            <a:ext cx="8837727"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86189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04800" y="274638"/>
            <a:ext cx="8534400" cy="792162"/>
          </a:xfrm>
        </p:spPr>
        <p:txBody>
          <a:bodyPr>
            <a:normAutofit/>
          </a:bodyPr>
          <a:lstStyle/>
          <a:p>
            <a:r>
              <a:rPr lang="en-US" dirty="0"/>
              <a:t>Top Vendors and Store Profitability</a:t>
            </a:r>
          </a:p>
        </p:txBody>
      </p:sp>
      <p:sp>
        <p:nvSpPr>
          <p:cNvPr id="3" name="Content Placeholder 2"/>
          <p:cNvSpPr>
            <a:spLocks noGrp="1"/>
          </p:cNvSpPr>
          <p:nvPr>
            <p:ph sz="quarter" idx="1"/>
          </p:nvPr>
        </p:nvSpPr>
        <p:spPr>
          <a:xfrm>
            <a:off x="228600" y="1447800"/>
            <a:ext cx="8686800" cy="2514600"/>
          </a:xfrm>
        </p:spPr>
        <p:txBody>
          <a:bodyPr>
            <a:normAutofit lnSpcReduction="10000"/>
          </a:bodyPr>
          <a:lstStyle/>
          <a:p>
            <a:r>
              <a:rPr lang="en-US" b="1" dirty="0"/>
              <a:t>Top Vendors</a:t>
            </a:r>
            <a:r>
              <a:rPr lang="en-US" dirty="0"/>
              <a:t>: DIAGEO NORTH AMERICA INC leads in both purchase value (3.97M) and frequency (243.33K), making it the most critical supplier.</a:t>
            </a:r>
          </a:p>
          <a:p>
            <a:r>
              <a:rPr lang="en-US" b="1" dirty="0"/>
              <a:t>Store Profitability</a:t>
            </a:r>
            <a:r>
              <a:rPr lang="en-US" dirty="0"/>
              <a:t>: The most profitable store generated </a:t>
            </a:r>
            <a:r>
              <a:rPr lang="en-US" b="1" dirty="0"/>
              <a:t>8.17M</a:t>
            </a:r>
            <a:r>
              <a:rPr lang="en-US" dirty="0"/>
              <a:t>, with others ranging between </a:t>
            </a:r>
            <a:r>
              <a:rPr lang="en-US" b="1" dirty="0"/>
              <a:t>5.22M–6.99M</a:t>
            </a:r>
            <a:r>
              <a:rPr lang="en-US" dirty="0"/>
              <a:t>, highlighting strong performance variation across locations.</a:t>
            </a:r>
          </a:p>
        </p:txBody>
      </p:sp>
      <p:pic>
        <p:nvPicPr>
          <p:cNvPr id="4098" name="Picture 2"/>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bwMode="auto">
          <a:xfrm>
            <a:off x="92117" y="3962400"/>
            <a:ext cx="9051883"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29599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04800" y="274638"/>
            <a:ext cx="8534400" cy="868362"/>
          </a:xfrm>
        </p:spPr>
        <p:txBody>
          <a:bodyPr>
            <a:normAutofit/>
          </a:bodyPr>
          <a:lstStyle/>
          <a:p>
            <a:r>
              <a:rPr lang="en-US" dirty="0"/>
              <a:t>Supplier Impact and Scale Overview</a:t>
            </a:r>
          </a:p>
        </p:txBody>
      </p:sp>
      <p:sp>
        <p:nvSpPr>
          <p:cNvPr id="3" name="Content Placeholder 2"/>
          <p:cNvSpPr>
            <a:spLocks noGrp="1"/>
          </p:cNvSpPr>
          <p:nvPr>
            <p:ph sz="quarter" idx="1"/>
          </p:nvPr>
        </p:nvSpPr>
        <p:spPr>
          <a:xfrm>
            <a:off x="228600" y="1524000"/>
            <a:ext cx="8686800" cy="2438400"/>
          </a:xfrm>
        </p:spPr>
        <p:txBody>
          <a:bodyPr vert="horz" lIns="91440" tIns="45720" rIns="91440" bIns="45720" anchor="t">
            <a:normAutofit fontScale="92500"/>
          </a:bodyPr>
          <a:lstStyle/>
          <a:p>
            <a:r>
              <a:rPr lang="en-US" b="1" dirty="0"/>
              <a:t>Supplier Impact</a:t>
            </a:r>
            <a:r>
              <a:rPr lang="en-US" dirty="0"/>
              <a:t>: BEAM SUNTORY, MARTINSCOTT, </a:t>
            </a:r>
            <a:r>
              <a:rPr lang="en-US"/>
              <a:t>CONSTELLATION BRANDS, and MARTIGNETII COMPANIES also </a:t>
            </a:r>
            <a:r>
              <a:rPr lang="en-US" dirty="0"/>
              <a:t>show high purchase values and frequencies, indicating strategic importance.</a:t>
            </a:r>
          </a:p>
          <a:p>
            <a:r>
              <a:rPr lang="en-US" b="1" dirty="0"/>
              <a:t>Scale Overview</a:t>
            </a:r>
            <a:r>
              <a:rPr lang="en-US" dirty="0"/>
              <a:t>: The business spans </a:t>
            </a:r>
            <a:r>
              <a:rPr lang="en-US" b="1" dirty="0"/>
              <a:t>127 vendors</a:t>
            </a:r>
            <a:r>
              <a:rPr lang="en-US" dirty="0"/>
              <a:t>, </a:t>
            </a:r>
            <a:r>
              <a:rPr lang="en-US" b="1" dirty="0"/>
              <a:t>80 stores</a:t>
            </a:r>
            <a:r>
              <a:rPr lang="en-US" dirty="0"/>
              <a:t>, and over </a:t>
            </a:r>
            <a:r>
              <a:rPr lang="en-US" b="1" dirty="0"/>
              <a:t>11.24K brands</a:t>
            </a:r>
            <a:r>
              <a:rPr lang="en-US" dirty="0"/>
              <a:t>, reflecting a large and diverse operation.</a:t>
            </a:r>
          </a:p>
        </p:txBody>
      </p:sp>
      <p:pic>
        <p:nvPicPr>
          <p:cNvPr id="5123" name="Picture 3"/>
          <p:cNvPicPr>
            <a:picLocks noGrp="1" noChangeAspect="1" noChangeArrowheads="1"/>
          </p:cNvPicPr>
          <p:nvPr>
            <p:ph sz="quarter" idx="2"/>
          </p:nvPr>
        </p:nvPicPr>
        <p:blipFill rotWithShape="1">
          <a:blip r:embed="rId2">
            <a:extLst>
              <a:ext uri="{28A0092B-C50C-407E-A947-70E740481C1C}">
                <a14:useLocalDpi xmlns:a14="http://schemas.microsoft.com/office/drawing/2010/main" val="0"/>
              </a:ext>
            </a:extLst>
          </a:blip>
          <a:srcRect l="604"/>
          <a:stretch/>
        </p:blipFill>
        <p:spPr bwMode="auto">
          <a:xfrm>
            <a:off x="108840" y="3886200"/>
            <a:ext cx="9019118"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14630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04800" y="274638"/>
            <a:ext cx="8534400" cy="792162"/>
          </a:xfrm>
        </p:spPr>
        <p:txBody>
          <a:bodyPr>
            <a:normAutofit/>
          </a:bodyPr>
          <a:lstStyle/>
          <a:p>
            <a:r>
              <a:rPr lang="en-US" dirty="0"/>
              <a:t>Monthly Trend of Vendors Purchases</a:t>
            </a:r>
          </a:p>
        </p:txBody>
      </p:sp>
      <p:sp>
        <p:nvSpPr>
          <p:cNvPr id="3" name="Content Placeholder 2"/>
          <p:cNvSpPr>
            <a:spLocks noGrp="1"/>
          </p:cNvSpPr>
          <p:nvPr>
            <p:ph sz="quarter" idx="1"/>
          </p:nvPr>
        </p:nvSpPr>
        <p:spPr>
          <a:xfrm>
            <a:off x="228600" y="1219200"/>
            <a:ext cx="8763000" cy="2590800"/>
          </a:xfrm>
        </p:spPr>
        <p:txBody>
          <a:bodyPr>
            <a:normAutofit fontScale="70000" lnSpcReduction="20000"/>
          </a:bodyPr>
          <a:lstStyle/>
          <a:p>
            <a:r>
              <a:rPr lang="en-US" b="1" dirty="0"/>
              <a:t>DIAGEO NORTH AMERICA INC.</a:t>
            </a:r>
            <a:r>
              <a:rPr lang="en-US" dirty="0"/>
              <a:t> shows the </a:t>
            </a:r>
            <a:r>
              <a:rPr lang="en-US" b="1" dirty="0"/>
              <a:t>strongest and most consistent purchase volume</a:t>
            </a:r>
            <a:r>
              <a:rPr lang="en-US" dirty="0"/>
              <a:t> across all months, peaking in mid-year (likely June–August), indicating stable demand and strategic importance year-round.</a:t>
            </a:r>
          </a:p>
          <a:p>
            <a:r>
              <a:rPr lang="en-US" b="1" dirty="0"/>
              <a:t>PERNOD RICARD USA</a:t>
            </a:r>
            <a:r>
              <a:rPr lang="en-US" dirty="0"/>
              <a:t> and </a:t>
            </a:r>
            <a:r>
              <a:rPr lang="en-US" b="1" dirty="0"/>
              <a:t>JIM BEAM BRANDS COMPANY</a:t>
            </a:r>
            <a:r>
              <a:rPr lang="en-US" dirty="0"/>
              <a:t> follow with moderate purchase levels, showing </a:t>
            </a:r>
            <a:r>
              <a:rPr lang="en-US" b="1" dirty="0"/>
              <a:t>seasonal spikes</a:t>
            </a:r>
            <a:r>
              <a:rPr lang="en-US" dirty="0"/>
              <a:t>, especially around </a:t>
            </a:r>
            <a:r>
              <a:rPr lang="en-US" b="1" dirty="0"/>
              <a:t>Q2 and Q4</a:t>
            </a:r>
            <a:r>
              <a:rPr lang="en-US" dirty="0"/>
              <a:t>, which may align with promotional periods or holiday demand.</a:t>
            </a:r>
          </a:p>
          <a:p>
            <a:r>
              <a:rPr lang="en-US" b="1" dirty="0"/>
              <a:t>BACARDI USA INC.</a:t>
            </a:r>
            <a:r>
              <a:rPr lang="en-US" dirty="0"/>
              <a:t> has the </a:t>
            </a:r>
            <a:r>
              <a:rPr lang="en-US" b="1" dirty="0"/>
              <a:t>lowest total purchases</a:t>
            </a:r>
            <a:r>
              <a:rPr lang="en-US" dirty="0"/>
              <a:t> among the group and displays </a:t>
            </a:r>
            <a:r>
              <a:rPr lang="en-US" b="1" dirty="0"/>
              <a:t>fluctuating monthly trends</a:t>
            </a:r>
            <a:r>
              <a:rPr lang="en-US" dirty="0"/>
              <a:t>, suggesting variable demand or supply cycles.</a:t>
            </a:r>
          </a:p>
          <a:p>
            <a:r>
              <a:rPr lang="en-US" b="1" dirty="0"/>
              <a:t>MARTIGNETTI COMPANIES</a:t>
            </a:r>
            <a:r>
              <a:rPr lang="en-US" dirty="0"/>
              <a:t> appears to have </a:t>
            </a:r>
            <a:r>
              <a:rPr lang="en-US" b="1" dirty="0"/>
              <a:t>intermittent spikes</a:t>
            </a:r>
            <a:r>
              <a:rPr lang="en-US" dirty="0"/>
              <a:t>, possibly due to bulk or one-off purchases rather than steady monthly flow.</a:t>
            </a:r>
          </a:p>
        </p:txBody>
      </p:sp>
      <p:pic>
        <p:nvPicPr>
          <p:cNvPr id="5123" name="Picture 3"/>
          <p:cNvPicPr>
            <a:picLocks noGrp="1" noChangeAspect="1" noChangeArrowheads="1"/>
          </p:cNvPicPr>
          <p:nvPr>
            <p:ph sz="quarter" idx="2"/>
          </p:nvPr>
        </p:nvPicPr>
        <p:blipFill rotWithShape="1">
          <a:blip r:embed="rId2">
            <a:extLst>
              <a:ext uri="{28A0092B-C50C-407E-A947-70E740481C1C}">
                <a14:useLocalDpi xmlns:a14="http://schemas.microsoft.com/office/drawing/2010/main" val="0"/>
              </a:ext>
            </a:extLst>
          </a:blip>
          <a:srcRect t="18393" r="929"/>
          <a:stretch/>
        </p:blipFill>
        <p:spPr bwMode="auto">
          <a:xfrm>
            <a:off x="76200" y="3962400"/>
            <a:ext cx="8991600" cy="2832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56189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Month-to-Month Patterns</a:t>
            </a:r>
          </a:p>
        </p:txBody>
      </p:sp>
      <p:sp>
        <p:nvSpPr>
          <p:cNvPr id="6" name="Content Placeholder 5"/>
          <p:cNvSpPr>
            <a:spLocks noGrp="1"/>
          </p:cNvSpPr>
          <p:nvPr>
            <p:ph sz="quarter" idx="1"/>
          </p:nvPr>
        </p:nvSpPr>
        <p:spPr/>
        <p:txBody>
          <a:bodyPr>
            <a:normAutofit/>
          </a:bodyPr>
          <a:lstStyle/>
          <a:p>
            <a:r>
              <a:rPr lang="en-US" b="1" dirty="0"/>
              <a:t>Q2 and Q4 (April–June, October–December)</a:t>
            </a:r>
            <a:r>
              <a:rPr lang="en-US" dirty="0"/>
              <a:t> tend to show </a:t>
            </a:r>
            <a:r>
              <a:rPr lang="en-US" b="1" dirty="0"/>
              <a:t>higher purchase volumes</a:t>
            </a:r>
            <a:r>
              <a:rPr lang="en-US" dirty="0"/>
              <a:t> across most vendors, likely driven by seasonal promotions, holidays, or inventory stocking cycles.</a:t>
            </a:r>
          </a:p>
          <a:p>
            <a:r>
              <a:rPr lang="en-US" b="1" dirty="0"/>
              <a:t>Q1 and Q3 (January–March, July–September)</a:t>
            </a:r>
            <a:r>
              <a:rPr lang="en-US" dirty="0"/>
              <a:t> show more variability, with some vendors dipping or surging depending on their product type and market strategy.</a:t>
            </a:r>
          </a:p>
          <a:p>
            <a:endParaRPr lang="en-US" dirty="0"/>
          </a:p>
        </p:txBody>
      </p:sp>
    </p:spTree>
    <p:extLst>
      <p:ext uri="{BB962C8B-B14F-4D97-AF65-F5344CB8AC3E}">
        <p14:creationId xmlns:p14="http://schemas.microsoft.com/office/powerpoint/2010/main" val="40984670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04800" y="274638"/>
            <a:ext cx="8534400" cy="792162"/>
          </a:xfrm>
        </p:spPr>
        <p:txBody>
          <a:bodyPr>
            <a:normAutofit/>
          </a:bodyPr>
          <a:lstStyle/>
          <a:p>
            <a:r>
              <a:rPr lang="en-US" dirty="0"/>
              <a:t>Inventory Purchase </a:t>
            </a:r>
            <a:r>
              <a:rPr lang="en-US" dirty="0" err="1"/>
              <a:t>Vs</a:t>
            </a:r>
            <a:r>
              <a:rPr lang="en-US" dirty="0"/>
              <a:t> Sales</a:t>
            </a:r>
          </a:p>
        </p:txBody>
      </p:sp>
      <p:sp>
        <p:nvSpPr>
          <p:cNvPr id="3" name="Content Placeholder 2"/>
          <p:cNvSpPr>
            <a:spLocks noGrp="1"/>
          </p:cNvSpPr>
          <p:nvPr>
            <p:ph sz="quarter" idx="1"/>
          </p:nvPr>
        </p:nvSpPr>
        <p:spPr>
          <a:xfrm>
            <a:off x="228600" y="1295400"/>
            <a:ext cx="8763000" cy="2514600"/>
          </a:xfrm>
        </p:spPr>
        <p:txBody>
          <a:bodyPr>
            <a:normAutofit/>
          </a:bodyPr>
          <a:lstStyle/>
          <a:p>
            <a:r>
              <a:rPr lang="en-US" b="1" dirty="0"/>
              <a:t>Purchases vs. Sales</a:t>
            </a:r>
            <a:r>
              <a:rPr lang="en-US" dirty="0"/>
              <a:t>: Inventory purchases consistently exceeded sales from January to July, but from </a:t>
            </a:r>
            <a:r>
              <a:rPr lang="en-US" b="1" dirty="0"/>
              <a:t>August to October</a:t>
            </a:r>
            <a:r>
              <a:rPr lang="en-US" dirty="0"/>
              <a:t>, sales outpaced purchases, indicating improved stock efficiency or seasonal demand. December saw a sharp spike in purchases (</a:t>
            </a:r>
            <a:r>
              <a:rPr lang="en-US" b="1" dirty="0"/>
              <a:t>52M</a:t>
            </a:r>
            <a:r>
              <a:rPr lang="en-US" dirty="0"/>
              <a:t>) without a matching rise in sales, suggesting year-end restocking.</a:t>
            </a:r>
          </a:p>
        </p:txBody>
      </p:sp>
      <p:pic>
        <p:nvPicPr>
          <p:cNvPr id="5123" name="Picture 3"/>
          <p:cNvPicPr>
            <a:picLocks noGrp="1" noChangeAspect="1" noChangeArrowheads="1"/>
          </p:cNvPicPr>
          <p:nvPr>
            <p:ph sz="quarter" idx="2"/>
          </p:nvPr>
        </p:nvPicPr>
        <p:blipFill rotWithShape="1">
          <a:blip r:embed="rId2">
            <a:extLst>
              <a:ext uri="{28A0092B-C50C-407E-A947-70E740481C1C}">
                <a14:useLocalDpi xmlns:a14="http://schemas.microsoft.com/office/drawing/2010/main" val="0"/>
              </a:ext>
            </a:extLst>
          </a:blip>
          <a:srcRect l="1849" t="3246" r="1282" b="45255"/>
          <a:stretch/>
        </p:blipFill>
        <p:spPr bwMode="auto">
          <a:xfrm>
            <a:off x="33054" y="3810000"/>
            <a:ext cx="9130999"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79679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04800" y="274638"/>
            <a:ext cx="8534400" cy="868362"/>
          </a:xfrm>
        </p:spPr>
        <p:txBody>
          <a:bodyPr>
            <a:normAutofit/>
          </a:bodyPr>
          <a:lstStyle/>
          <a:p>
            <a:r>
              <a:rPr lang="en-US" dirty="0"/>
              <a:t>Inventory Turnover</a:t>
            </a:r>
          </a:p>
        </p:txBody>
      </p:sp>
      <p:sp>
        <p:nvSpPr>
          <p:cNvPr id="3" name="Content Placeholder 2"/>
          <p:cNvSpPr>
            <a:spLocks noGrp="1"/>
          </p:cNvSpPr>
          <p:nvPr>
            <p:ph sz="quarter" idx="1"/>
          </p:nvPr>
        </p:nvSpPr>
        <p:spPr>
          <a:xfrm>
            <a:off x="228600" y="1295400"/>
            <a:ext cx="8763000" cy="2514600"/>
          </a:xfrm>
        </p:spPr>
        <p:txBody>
          <a:bodyPr>
            <a:normAutofit fontScale="92500" lnSpcReduction="10000"/>
          </a:bodyPr>
          <a:lstStyle/>
          <a:p>
            <a:r>
              <a:rPr lang="en-US" b="1" dirty="0"/>
              <a:t>Inventory Turnover</a:t>
            </a:r>
            <a:r>
              <a:rPr lang="en-US" dirty="0"/>
              <a:t>: Wine showed </a:t>
            </a:r>
            <a:r>
              <a:rPr lang="en-US" b="1" dirty="0"/>
              <a:t>steadier and stronger turnover</a:t>
            </a:r>
            <a:r>
              <a:rPr lang="en-US" dirty="0"/>
              <a:t> than spirits in the second half of the year, peaking in </a:t>
            </a:r>
            <a:r>
              <a:rPr lang="en-US" b="1" dirty="0"/>
              <a:t>August and December</a:t>
            </a:r>
            <a:r>
              <a:rPr lang="en-US" dirty="0"/>
              <a:t>. Spirit turnover peaked in </a:t>
            </a:r>
            <a:r>
              <a:rPr lang="en-US" b="1" dirty="0"/>
              <a:t>July</a:t>
            </a:r>
            <a:r>
              <a:rPr lang="en-US" dirty="0"/>
              <a:t> but declined afterward, indicating slower movement.</a:t>
            </a:r>
          </a:p>
          <a:p>
            <a:r>
              <a:rPr lang="en-US" dirty="0"/>
              <a:t>These trends suggest opportunities to optimize purchasing cycles, especially in Q4, and to leverage wine’s stronger turnover for profitability.</a:t>
            </a:r>
          </a:p>
        </p:txBody>
      </p:sp>
      <p:pic>
        <p:nvPicPr>
          <p:cNvPr id="5123" name="Picture 3"/>
          <p:cNvPicPr>
            <a:picLocks noGrp="1" noChangeAspect="1" noChangeArrowheads="1"/>
          </p:cNvPicPr>
          <p:nvPr>
            <p:ph sz="quarter" idx="2"/>
          </p:nvPr>
        </p:nvPicPr>
        <p:blipFill rotWithShape="1">
          <a:blip r:embed="rId2">
            <a:extLst>
              <a:ext uri="{28A0092B-C50C-407E-A947-70E740481C1C}">
                <a14:useLocalDpi xmlns:a14="http://schemas.microsoft.com/office/drawing/2010/main" val="0"/>
              </a:ext>
            </a:extLst>
          </a:blip>
          <a:srcRect l="1571" t="54017" r="1670"/>
          <a:stretch/>
        </p:blipFill>
        <p:spPr bwMode="auto">
          <a:xfrm>
            <a:off x="-5503" y="4038600"/>
            <a:ext cx="9149503"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13987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04800" y="152400"/>
            <a:ext cx="8534400" cy="990600"/>
          </a:xfrm>
        </p:spPr>
        <p:txBody>
          <a:bodyPr>
            <a:normAutofit fontScale="90000"/>
          </a:bodyPr>
          <a:lstStyle/>
          <a:p>
            <a:r>
              <a:rPr lang="en-US" dirty="0"/>
              <a:t>Product With Most Profit/Size with most sales and value</a:t>
            </a:r>
          </a:p>
        </p:txBody>
      </p:sp>
      <p:sp>
        <p:nvSpPr>
          <p:cNvPr id="3" name="Content Placeholder 2"/>
          <p:cNvSpPr>
            <a:spLocks noGrp="1"/>
          </p:cNvSpPr>
          <p:nvPr>
            <p:ph sz="quarter" idx="1"/>
          </p:nvPr>
        </p:nvSpPr>
        <p:spPr>
          <a:xfrm>
            <a:off x="228600" y="1295400"/>
            <a:ext cx="8763000" cy="2514600"/>
          </a:xfrm>
        </p:spPr>
        <p:txBody>
          <a:bodyPr>
            <a:normAutofit/>
          </a:bodyPr>
          <a:lstStyle/>
          <a:p>
            <a:r>
              <a:rPr lang="en-US" b="1" dirty="0"/>
              <a:t>Wine outperforms spirits in profit</a:t>
            </a:r>
            <a:r>
              <a:rPr lang="en-US" dirty="0"/>
              <a:t>, generating </a:t>
            </a:r>
            <a:r>
              <a:rPr lang="en-US" b="1" dirty="0" smtClean="0"/>
              <a:t>79.51M</a:t>
            </a:r>
            <a:r>
              <a:rPr lang="en-US" dirty="0" smtClean="0"/>
              <a:t> </a:t>
            </a:r>
            <a:r>
              <a:rPr lang="en-US" dirty="0"/>
              <a:t>compared to </a:t>
            </a:r>
            <a:r>
              <a:rPr lang="en-US" b="1" dirty="0"/>
              <a:t>62.84M</a:t>
            </a:r>
            <a:r>
              <a:rPr lang="en-US" dirty="0"/>
              <a:t>, suggesting stronger margins or demand.</a:t>
            </a:r>
          </a:p>
          <a:p>
            <a:r>
              <a:rPr lang="en-US" dirty="0"/>
              <a:t>The </a:t>
            </a:r>
            <a:r>
              <a:rPr lang="en-US" b="1" dirty="0"/>
              <a:t>top-selling product size</a:t>
            </a:r>
            <a:r>
              <a:rPr lang="en-US" dirty="0"/>
              <a:t> drives over </a:t>
            </a:r>
            <a:r>
              <a:rPr lang="en-US" b="1" dirty="0"/>
              <a:t>253.98M</a:t>
            </a:r>
            <a:r>
              <a:rPr lang="en-US" dirty="0"/>
              <a:t> in sales, far exceeding others, indicating a clear consumer preference.</a:t>
            </a:r>
          </a:p>
        </p:txBody>
      </p:sp>
      <p:pic>
        <p:nvPicPr>
          <p:cNvPr id="6146" name="Picture 2"/>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bwMode="auto">
          <a:xfrm>
            <a:off x="0" y="3886200"/>
            <a:ext cx="90678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96391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04800" y="274638"/>
            <a:ext cx="8534400" cy="868362"/>
          </a:xfrm>
        </p:spPr>
        <p:txBody>
          <a:bodyPr>
            <a:normAutofit/>
          </a:bodyPr>
          <a:lstStyle/>
          <a:p>
            <a:r>
              <a:rPr lang="en-US" dirty="0"/>
              <a:t>Product With Most Shelf Time</a:t>
            </a:r>
          </a:p>
        </p:txBody>
      </p:sp>
      <p:sp>
        <p:nvSpPr>
          <p:cNvPr id="3" name="Content Placeholder 2"/>
          <p:cNvSpPr>
            <a:spLocks noGrp="1"/>
          </p:cNvSpPr>
          <p:nvPr>
            <p:ph sz="quarter" idx="1"/>
          </p:nvPr>
        </p:nvSpPr>
        <p:spPr>
          <a:xfrm>
            <a:off x="228600" y="1295400"/>
            <a:ext cx="8763000" cy="2514600"/>
          </a:xfrm>
        </p:spPr>
        <p:txBody>
          <a:bodyPr>
            <a:normAutofit lnSpcReduction="10000"/>
          </a:bodyPr>
          <a:lstStyle/>
          <a:p>
            <a:r>
              <a:rPr lang="en-US" b="1" dirty="0"/>
              <a:t>Wine also has the longest shelf time</a:t>
            </a:r>
            <a:r>
              <a:rPr lang="en-US" dirty="0"/>
              <a:t> (27.50), slightly higher than spirits (22.67), which may affect inventory planning.</a:t>
            </a:r>
          </a:p>
          <a:p>
            <a:r>
              <a:rPr lang="en-US" dirty="0"/>
              <a:t>Among product descriptions, </a:t>
            </a:r>
            <a:r>
              <a:rPr lang="en-US" b="1" dirty="0"/>
              <a:t>Grand Marnier</a:t>
            </a:r>
            <a:r>
              <a:rPr lang="en-US" dirty="0"/>
              <a:t> has the longest shelf time (25.90), followed by </a:t>
            </a:r>
            <a:r>
              <a:rPr lang="en-US" b="1" dirty="0"/>
              <a:t>Southern Comfort</a:t>
            </a:r>
            <a:r>
              <a:rPr lang="en-US" dirty="0"/>
              <a:t> and </a:t>
            </a:r>
            <a:r>
              <a:rPr lang="en-US" b="1" dirty="0"/>
              <a:t>Drambuie</a:t>
            </a:r>
            <a:r>
              <a:rPr lang="en-US" dirty="0"/>
              <a:t>, highlighting slower-moving premium items.</a:t>
            </a:r>
          </a:p>
        </p:txBody>
      </p:sp>
      <p:pic>
        <p:nvPicPr>
          <p:cNvPr id="7171" name="Picture 3"/>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bwMode="auto">
          <a:xfrm>
            <a:off x="152401" y="3657600"/>
            <a:ext cx="8852304"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88498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52400" y="152400"/>
            <a:ext cx="8839200" cy="990600"/>
          </a:xfrm>
        </p:spPr>
        <p:txBody>
          <a:bodyPr>
            <a:normAutofit fontScale="90000"/>
          </a:bodyPr>
          <a:lstStyle/>
          <a:p>
            <a:r>
              <a:rPr lang="en-US" dirty="0"/>
              <a:t>Vendor Profitability and Selling Price Variations</a:t>
            </a:r>
          </a:p>
        </p:txBody>
      </p:sp>
      <p:sp>
        <p:nvSpPr>
          <p:cNvPr id="3" name="Content Placeholder 2"/>
          <p:cNvSpPr>
            <a:spLocks noGrp="1"/>
          </p:cNvSpPr>
          <p:nvPr>
            <p:ph sz="quarter" idx="1"/>
          </p:nvPr>
        </p:nvSpPr>
        <p:spPr>
          <a:xfrm>
            <a:off x="228600" y="1295400"/>
            <a:ext cx="8763000" cy="2514600"/>
          </a:xfrm>
        </p:spPr>
        <p:txBody>
          <a:bodyPr vert="horz" lIns="91440" tIns="45720" rIns="91440" bIns="45720" anchor="t">
            <a:normAutofit fontScale="92500" lnSpcReduction="10000"/>
          </a:bodyPr>
          <a:lstStyle/>
          <a:p>
            <a:r>
              <a:rPr lang="en-US" b="1" dirty="0"/>
              <a:t>Top Vendor Profitability</a:t>
            </a:r>
            <a:r>
              <a:rPr lang="en-US" dirty="0"/>
              <a:t>: DIAGEO NORTH AMERICA leads with </a:t>
            </a:r>
            <a:r>
              <a:rPr lang="en-US" b="1" dirty="0"/>
              <a:t>14.69B</a:t>
            </a:r>
            <a:r>
              <a:rPr lang="en-US" dirty="0"/>
              <a:t>, followed by MARTINOTTI AMERICAS and JIM BEAM BRANDS, confirming their dominant market impact.</a:t>
            </a:r>
          </a:p>
          <a:p>
            <a:r>
              <a:rPr lang="en-US" b="1" dirty="0"/>
              <a:t>Selling Price Variation</a:t>
            </a:r>
            <a:r>
              <a:rPr lang="en-US" dirty="0"/>
              <a:t>: Store 45 has the </a:t>
            </a:r>
            <a:r>
              <a:rPr lang="en-US" b="1" dirty="0"/>
              <a:t>highest average selling prices</a:t>
            </a:r>
            <a:r>
              <a:rPr lang="en-US" dirty="0"/>
              <a:t> (Spirit: 22.1, Wine: 20), while Store 5 has the </a:t>
            </a:r>
            <a:r>
              <a:rPr lang="en-US" b="1" dirty="0"/>
              <a:t>lowest</a:t>
            </a:r>
            <a:r>
              <a:rPr lang="en-US" dirty="0"/>
              <a:t> (Spirit: 21.8, Wine: 17.8), indicating pricing strategies vary widely across locations.</a:t>
            </a:r>
          </a:p>
        </p:txBody>
      </p:sp>
      <p:pic>
        <p:nvPicPr>
          <p:cNvPr id="8195" name="Picture 3"/>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bwMode="auto">
          <a:xfrm>
            <a:off x="170345" y="3886200"/>
            <a:ext cx="8897455"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31155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28600" y="152400"/>
            <a:ext cx="8763000" cy="990600"/>
          </a:xfrm>
        </p:spPr>
        <p:txBody>
          <a:bodyPr>
            <a:normAutofit/>
          </a:bodyPr>
          <a:lstStyle/>
          <a:p>
            <a:r>
              <a:rPr lang="en-US" dirty="0"/>
              <a:t>Store With Highest Selling Value</a:t>
            </a:r>
          </a:p>
        </p:txBody>
      </p:sp>
      <p:sp>
        <p:nvSpPr>
          <p:cNvPr id="3" name="Content Placeholder 2"/>
          <p:cNvSpPr>
            <a:spLocks noGrp="1"/>
          </p:cNvSpPr>
          <p:nvPr>
            <p:ph sz="quarter" idx="1"/>
          </p:nvPr>
        </p:nvSpPr>
        <p:spPr>
          <a:xfrm>
            <a:off x="4343400" y="1981200"/>
            <a:ext cx="4648200" cy="3810000"/>
          </a:xfrm>
        </p:spPr>
        <p:txBody>
          <a:bodyPr vert="horz" lIns="91440" tIns="45720" rIns="91440" bIns="45720" anchor="t">
            <a:normAutofit fontScale="92500" lnSpcReduction="10000"/>
          </a:bodyPr>
          <a:lstStyle/>
          <a:p>
            <a:r>
              <a:rPr lang="en-US" b="1" dirty="0"/>
              <a:t>Store 76</a:t>
            </a:r>
            <a:r>
              <a:rPr lang="en-US" dirty="0"/>
              <a:t> has the highest average selling price for spirits (</a:t>
            </a:r>
            <a:r>
              <a:rPr lang="en-US" b="1" dirty="0"/>
              <a:t>65</a:t>
            </a:r>
            <a:r>
              <a:rPr lang="en-US" dirty="0"/>
              <a:t>) and wine (</a:t>
            </a:r>
            <a:r>
              <a:rPr lang="en-US" b="1" dirty="0"/>
              <a:t>42</a:t>
            </a:r>
            <a:r>
              <a:rPr lang="en-US" dirty="0"/>
              <a:t>), making it the top-priced location overall.</a:t>
            </a:r>
          </a:p>
          <a:p>
            <a:r>
              <a:rPr lang="en-US" dirty="0"/>
              <a:t>Across all six stores, </a:t>
            </a:r>
            <a:r>
              <a:rPr lang="en-US" b="1" dirty="0"/>
              <a:t>spirits consistently sell at higher prices than wine</a:t>
            </a:r>
            <a:r>
              <a:rPr lang="en-US" dirty="0"/>
              <a:t>, with spirit prices ranging from </a:t>
            </a:r>
            <a:r>
              <a:rPr lang="en-US" b="1" dirty="0"/>
              <a:t>51 to 65</a:t>
            </a:r>
            <a:r>
              <a:rPr lang="en-US" dirty="0"/>
              <a:t>, while wine prices range from </a:t>
            </a:r>
            <a:r>
              <a:rPr lang="en-US" b="1" dirty="0"/>
              <a:t>34 to 42</a:t>
            </a:r>
            <a:r>
              <a:rPr lang="en-US" dirty="0"/>
              <a:t>.</a:t>
            </a:r>
          </a:p>
        </p:txBody>
      </p:sp>
      <p:pic>
        <p:nvPicPr>
          <p:cNvPr id="9219" name="Picture 3"/>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bwMode="auto">
          <a:xfrm>
            <a:off x="304800" y="2133600"/>
            <a:ext cx="40386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62116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28600" y="76200"/>
            <a:ext cx="8763000" cy="1066800"/>
          </a:xfrm>
        </p:spPr>
        <p:txBody>
          <a:bodyPr>
            <a:normAutofit/>
          </a:bodyPr>
          <a:lstStyle/>
          <a:p>
            <a:r>
              <a:rPr lang="en-US" dirty="0"/>
              <a:t>Correlation Between Inventory Turnover and Profit Margin</a:t>
            </a:r>
          </a:p>
        </p:txBody>
      </p:sp>
      <p:sp>
        <p:nvSpPr>
          <p:cNvPr id="3" name="Content Placeholder 2"/>
          <p:cNvSpPr>
            <a:spLocks noGrp="1"/>
          </p:cNvSpPr>
          <p:nvPr>
            <p:ph sz="quarter" idx="1"/>
          </p:nvPr>
        </p:nvSpPr>
        <p:spPr>
          <a:xfrm>
            <a:off x="228600" y="1295400"/>
            <a:ext cx="8763000" cy="2514600"/>
          </a:xfrm>
        </p:spPr>
        <p:txBody>
          <a:bodyPr>
            <a:normAutofit fontScale="92500" lnSpcReduction="10000"/>
          </a:bodyPr>
          <a:lstStyle/>
          <a:p>
            <a:r>
              <a:rPr lang="en-US" dirty="0"/>
              <a:t>The correlation between Inventory Turnover Ratio and Profit Margin is virtually zero (</a:t>
            </a:r>
            <a:r>
              <a:rPr lang="en-US" b="1" dirty="0"/>
              <a:t>1.67 × 10⁻¹⁴</a:t>
            </a:r>
            <a:r>
              <a:rPr lang="en-US" dirty="0"/>
              <a:t>), indicating no meaningful relationship between the two. </a:t>
            </a:r>
          </a:p>
          <a:p>
            <a:r>
              <a:rPr lang="en-US" dirty="0"/>
              <a:t>This means businesses can have high turnover with low margins or low turnover with high margins, and improving one metric does not guarantee improvement in the other. Each should be optimized independently through targeted strategies.</a:t>
            </a:r>
          </a:p>
        </p:txBody>
      </p:sp>
      <p:pic>
        <p:nvPicPr>
          <p:cNvPr id="9218" name="Picture 2"/>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bwMode="auto">
          <a:xfrm>
            <a:off x="990600" y="3733800"/>
            <a:ext cx="70866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40412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Recommendations</a:t>
            </a:r>
          </a:p>
        </p:txBody>
      </p:sp>
      <p:sp>
        <p:nvSpPr>
          <p:cNvPr id="3" name="Content Placeholder 2"/>
          <p:cNvSpPr>
            <a:spLocks noGrp="1"/>
          </p:cNvSpPr>
          <p:nvPr>
            <p:ph sz="quarter" idx="1"/>
          </p:nvPr>
        </p:nvSpPr>
        <p:spPr>
          <a:xfrm>
            <a:off x="304800" y="1600200"/>
            <a:ext cx="8534400" cy="4648200"/>
          </a:xfrm>
        </p:spPr>
        <p:txBody>
          <a:bodyPr>
            <a:normAutofit/>
          </a:bodyPr>
          <a:lstStyle/>
          <a:p>
            <a:r>
              <a:rPr lang="en-US" b="1" dirty="0"/>
              <a:t>Strengthen Spirit Strategy</a:t>
            </a:r>
            <a:r>
              <a:rPr lang="en-US" dirty="0"/>
              <a:t> Spirits contribute over </a:t>
            </a:r>
            <a:r>
              <a:rPr lang="en-US" b="1" dirty="0"/>
              <a:t>64% of total sales</a:t>
            </a:r>
            <a:r>
              <a:rPr lang="en-US" dirty="0"/>
              <a:t> and show strong pricing power. Focus on premium spirit offerings, vendor partnerships (especially DIAGEO), and high-performing store locations to maximize returns.</a:t>
            </a:r>
          </a:p>
          <a:p>
            <a:r>
              <a:rPr lang="en-US" b="1" dirty="0"/>
              <a:t>Boost Wine Profitability</a:t>
            </a:r>
            <a:r>
              <a:rPr lang="en-US" dirty="0"/>
              <a:t> Although wine lags in sales but it has </a:t>
            </a:r>
            <a:r>
              <a:rPr lang="en-US"/>
              <a:t>high profits. </a:t>
            </a:r>
            <a:r>
              <a:rPr lang="en-US" dirty="0"/>
              <a:t>Enhance wine visibility, optimize shelf space, and target stores with higher wine turnover to unlock margin potential.</a:t>
            </a:r>
          </a:p>
        </p:txBody>
      </p:sp>
    </p:spTree>
    <p:extLst>
      <p:ext uri="{BB962C8B-B14F-4D97-AF65-F5344CB8AC3E}">
        <p14:creationId xmlns:p14="http://schemas.microsoft.com/office/powerpoint/2010/main" val="30463124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Recommendations</a:t>
            </a:r>
          </a:p>
        </p:txBody>
      </p:sp>
      <p:sp>
        <p:nvSpPr>
          <p:cNvPr id="3" name="Content Placeholder 2"/>
          <p:cNvSpPr>
            <a:spLocks noGrp="1"/>
          </p:cNvSpPr>
          <p:nvPr>
            <p:ph sz="quarter" idx="1"/>
          </p:nvPr>
        </p:nvSpPr>
        <p:spPr>
          <a:xfrm>
            <a:off x="381000" y="1295400"/>
            <a:ext cx="8458200" cy="4953000"/>
          </a:xfrm>
        </p:spPr>
        <p:txBody>
          <a:bodyPr>
            <a:normAutofit/>
          </a:bodyPr>
          <a:lstStyle/>
          <a:p>
            <a:r>
              <a:rPr lang="en-US" b="1" dirty="0"/>
              <a:t>Optimize Product Sizing</a:t>
            </a:r>
            <a:r>
              <a:rPr lang="en-US" dirty="0"/>
              <a:t> The </a:t>
            </a:r>
            <a:r>
              <a:rPr lang="en-US" b="1" dirty="0"/>
              <a:t>750 mL size dominates</a:t>
            </a:r>
            <a:r>
              <a:rPr lang="en-US" dirty="0"/>
              <a:t> in both sales and quantity. Prioritize this format in promotions and inventory planning. Consider reducing low-demand smaller sizes to streamline operations.</a:t>
            </a:r>
          </a:p>
          <a:p>
            <a:endParaRPr lang="en-US" dirty="0"/>
          </a:p>
          <a:p>
            <a:r>
              <a:rPr lang="en-US" b="1" dirty="0"/>
              <a:t>Refine Store-Level Pricing</a:t>
            </a:r>
            <a:r>
              <a:rPr lang="en-US" dirty="0"/>
              <a:t> </a:t>
            </a:r>
            <a:r>
              <a:rPr lang="en-US" dirty="0" err="1"/>
              <a:t>Pricing</a:t>
            </a:r>
            <a:r>
              <a:rPr lang="en-US" dirty="0"/>
              <a:t> varies significantly across stores. Leverage high-price stores (e.g., Store 76, Store 66) for premium positioning, while reassessing pricing strategies in low-price stores (e.g., Store 26, Store 29) to improve margins.</a:t>
            </a:r>
          </a:p>
        </p:txBody>
      </p:sp>
    </p:spTree>
    <p:extLst>
      <p:ext uri="{BB962C8B-B14F-4D97-AF65-F5344CB8AC3E}">
        <p14:creationId xmlns:p14="http://schemas.microsoft.com/office/powerpoint/2010/main" val="33975766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Recommendations</a:t>
            </a:r>
          </a:p>
        </p:txBody>
      </p:sp>
      <p:sp>
        <p:nvSpPr>
          <p:cNvPr id="3" name="Content Placeholder 2"/>
          <p:cNvSpPr>
            <a:spLocks noGrp="1"/>
          </p:cNvSpPr>
          <p:nvPr>
            <p:ph sz="quarter" idx="1"/>
          </p:nvPr>
        </p:nvSpPr>
        <p:spPr>
          <a:xfrm>
            <a:off x="304800" y="1219200"/>
            <a:ext cx="8534400" cy="5181600"/>
          </a:xfrm>
        </p:spPr>
        <p:txBody>
          <a:bodyPr>
            <a:normAutofit/>
          </a:bodyPr>
          <a:lstStyle/>
          <a:p>
            <a:r>
              <a:rPr lang="en-US" b="1" dirty="0"/>
              <a:t>Vendor Relationship Management</a:t>
            </a:r>
            <a:r>
              <a:rPr lang="en-US" dirty="0"/>
              <a:t> DIAGEO NORTH AMERICA INC is the </a:t>
            </a:r>
            <a:r>
              <a:rPr lang="en-US" b="1" dirty="0"/>
              <a:t>most critical supplier</a:t>
            </a:r>
            <a:r>
              <a:rPr lang="en-US" dirty="0"/>
              <a:t> by value and frequency. Maintain strong ties and explore volume-based incentives. Monitor seasonal patterns with vendors like PERNOD RICARD and JIM BEAM for promotional alignment.</a:t>
            </a:r>
          </a:p>
          <a:p>
            <a:r>
              <a:rPr lang="en-US" b="1" dirty="0"/>
              <a:t>Inventory &amp; Margin Strategy</a:t>
            </a:r>
            <a:r>
              <a:rPr lang="en-US" dirty="0"/>
              <a:t> With </a:t>
            </a:r>
            <a:r>
              <a:rPr lang="en-US" b="1" dirty="0"/>
              <a:t>no correlation between turnover and profit margin</a:t>
            </a:r>
            <a:r>
              <a:rPr lang="en-US" dirty="0"/>
              <a:t>, treat these as </a:t>
            </a:r>
            <a:r>
              <a:rPr lang="en-US" b="1" dirty="0"/>
              <a:t>independent levers</a:t>
            </a:r>
            <a:r>
              <a:rPr lang="en-US" dirty="0"/>
              <a:t>. Use turnover to manage stock efficiency and margin to drive profitability—don’t expect one to influence the other.</a:t>
            </a:r>
          </a:p>
        </p:txBody>
      </p:sp>
    </p:spTree>
    <p:extLst>
      <p:ext uri="{BB962C8B-B14F-4D97-AF65-F5344CB8AC3E}">
        <p14:creationId xmlns:p14="http://schemas.microsoft.com/office/powerpoint/2010/main" val="5214376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Recommendations</a:t>
            </a:r>
          </a:p>
        </p:txBody>
      </p:sp>
      <p:sp>
        <p:nvSpPr>
          <p:cNvPr id="3" name="Content Placeholder 2"/>
          <p:cNvSpPr>
            <a:spLocks noGrp="1"/>
          </p:cNvSpPr>
          <p:nvPr>
            <p:ph sz="quarter" idx="1"/>
          </p:nvPr>
        </p:nvSpPr>
        <p:spPr>
          <a:xfrm>
            <a:off x="304800" y="1295400"/>
            <a:ext cx="8686800" cy="5029200"/>
          </a:xfrm>
        </p:spPr>
        <p:txBody>
          <a:bodyPr>
            <a:normAutofit/>
          </a:bodyPr>
          <a:lstStyle/>
          <a:p>
            <a:r>
              <a:rPr lang="en-US" b="1" dirty="0"/>
              <a:t>Seasonal Purchasing Optimization</a:t>
            </a:r>
            <a:r>
              <a:rPr lang="en-US" dirty="0"/>
              <a:t> Q2 and Q4 show </a:t>
            </a:r>
            <a:r>
              <a:rPr lang="en-US" b="1" dirty="0"/>
              <a:t>peak purchasing activity</a:t>
            </a:r>
            <a:r>
              <a:rPr lang="en-US" dirty="0"/>
              <a:t>. Align procurement and marketing efforts with these cycles to capitalize on demand surges and avoid overstocking.</a:t>
            </a:r>
          </a:p>
          <a:p>
            <a:endParaRPr lang="en-US" dirty="0"/>
          </a:p>
          <a:p>
            <a:r>
              <a:rPr lang="en-US" b="1" dirty="0"/>
              <a:t>Shelf Time Management</a:t>
            </a:r>
            <a:r>
              <a:rPr lang="en-US" dirty="0"/>
              <a:t> Products like </a:t>
            </a:r>
            <a:r>
              <a:rPr lang="en-US" b="1" dirty="0"/>
              <a:t>Grand Marnier and Southern Comfort</a:t>
            </a:r>
            <a:r>
              <a:rPr lang="en-US" dirty="0"/>
              <a:t> have long shelf times. Monitor slow-moving inventory and adjust ordering frequency to reduce holding costs.</a:t>
            </a:r>
          </a:p>
        </p:txBody>
      </p:sp>
    </p:spTree>
    <p:extLst>
      <p:ext uri="{BB962C8B-B14F-4D97-AF65-F5344CB8AC3E}">
        <p14:creationId xmlns:p14="http://schemas.microsoft.com/office/powerpoint/2010/main" val="15370973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sz="3600" b="1" dirty="0"/>
              <a:t>OVERALL DASHBOARDS</a:t>
            </a:r>
          </a:p>
        </p:txBody>
      </p:sp>
      <p:sp>
        <p:nvSpPr>
          <p:cNvPr id="5" name="Subtitle 4"/>
          <p:cNvSpPr>
            <a:spLocks noGrp="1"/>
          </p:cNvSpPr>
          <p:nvPr>
            <p:ph type="subTitle" idx="1"/>
          </p:nvPr>
        </p:nvSpPr>
        <p:spPr/>
        <p:txBody>
          <a:bodyPr/>
          <a:lstStyle/>
          <a:p>
            <a:endParaRPr lang="en-US"/>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9931" b="4792"/>
          <a:stretch/>
        </p:blipFill>
        <p:spPr>
          <a:xfrm>
            <a:off x="4495800" y="-152400"/>
            <a:ext cx="3755795" cy="3870158"/>
          </a:xfrm>
          <a:prstGeom prst="rect">
            <a:avLst/>
          </a:prstGeom>
        </p:spPr>
      </p:pic>
      <p:pic>
        <p:nvPicPr>
          <p:cNvPr id="7" name="Picture 4" descr="Buy Purity Connoisseur 51 Reserve Organic Vodka"/>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4938" r="24603"/>
          <a:stretch/>
        </p:blipFill>
        <p:spPr bwMode="auto">
          <a:xfrm>
            <a:off x="914400" y="76200"/>
            <a:ext cx="1395663" cy="3535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3096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8600"/>
            <a:ext cx="9144000" cy="6248400"/>
          </a:xfrm>
          <a:prstGeom prst="rect">
            <a:avLst/>
          </a:prstGeom>
        </p:spPr>
      </p:pic>
    </p:spTree>
    <p:extLst>
      <p:ext uri="{BB962C8B-B14F-4D97-AF65-F5344CB8AC3E}">
        <p14:creationId xmlns:p14="http://schemas.microsoft.com/office/powerpoint/2010/main" val="20266942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200"/>
            <a:ext cx="9144000" cy="6629400"/>
          </a:xfrm>
          <a:prstGeom prst="rect">
            <a:avLst/>
          </a:prstGeom>
        </p:spPr>
      </p:pic>
    </p:spTree>
    <p:extLst>
      <p:ext uri="{BB962C8B-B14F-4D97-AF65-F5344CB8AC3E}">
        <p14:creationId xmlns:p14="http://schemas.microsoft.com/office/powerpoint/2010/main" val="10702872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r="790"/>
          <a:stretch/>
        </p:blipFill>
        <p:spPr>
          <a:xfrm>
            <a:off x="0" y="381000"/>
            <a:ext cx="9198823" cy="6248400"/>
          </a:xfrm>
          <a:prstGeom prst="rect">
            <a:avLst/>
          </a:prstGeom>
        </p:spPr>
      </p:pic>
    </p:spTree>
    <p:extLst>
      <p:ext uri="{BB962C8B-B14F-4D97-AF65-F5344CB8AC3E}">
        <p14:creationId xmlns:p14="http://schemas.microsoft.com/office/powerpoint/2010/main" val="34260033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52400"/>
            <a:ext cx="9144000" cy="6629399"/>
          </a:xfrm>
          <a:prstGeom prst="rect">
            <a:avLst/>
          </a:prstGeom>
        </p:spPr>
      </p:pic>
    </p:spTree>
    <p:extLst>
      <p:ext uri="{BB962C8B-B14F-4D97-AF65-F5344CB8AC3E}">
        <p14:creationId xmlns:p14="http://schemas.microsoft.com/office/powerpoint/2010/main" val="1165090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9144000" cy="6781800"/>
          </a:xfrm>
          <a:prstGeom prst="rect">
            <a:avLst/>
          </a:prstGeom>
        </p:spPr>
      </p:pic>
    </p:spTree>
    <p:extLst>
      <p:ext uri="{BB962C8B-B14F-4D97-AF65-F5344CB8AC3E}">
        <p14:creationId xmlns:p14="http://schemas.microsoft.com/office/powerpoint/2010/main" val="145651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52400"/>
            <a:ext cx="9143999" cy="6629400"/>
          </a:xfrm>
          <a:prstGeom prst="rect">
            <a:avLst/>
          </a:prstGeom>
        </p:spPr>
      </p:pic>
    </p:spTree>
    <p:extLst>
      <p:ext uri="{BB962C8B-B14F-4D97-AF65-F5344CB8AC3E}">
        <p14:creationId xmlns:p14="http://schemas.microsoft.com/office/powerpoint/2010/main" val="22672825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THANK YOU FOR YOUR KEEN ATTENTION </a:t>
            </a:r>
          </a:p>
        </p:txBody>
      </p:sp>
      <p:sp>
        <p:nvSpPr>
          <p:cNvPr id="3" name="Subtitle 2"/>
          <p:cNvSpPr>
            <a:spLocks noGrp="1"/>
          </p:cNvSpPr>
          <p:nvPr>
            <p:ph type="subTitle" idx="1"/>
          </p:nvPr>
        </p:nvSpPr>
        <p:spPr/>
        <p:txBody>
          <a:bodyPr/>
          <a:lstStyle/>
          <a:p>
            <a:r>
              <a:rPr lang="en-US" dirty="0"/>
              <a:t>Any Questions?</a:t>
            </a:r>
          </a:p>
        </p:txBody>
      </p:sp>
    </p:spTree>
    <p:extLst>
      <p:ext uri="{BB962C8B-B14F-4D97-AF65-F5344CB8AC3E}">
        <p14:creationId xmlns:p14="http://schemas.microsoft.com/office/powerpoint/2010/main" val="233183316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290</TotalTime>
  <Words>1100</Words>
  <Application>Microsoft Office PowerPoint</Application>
  <PresentationFormat>On-screen Show (4:3)</PresentationFormat>
  <Paragraphs>63</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Origin</vt:lpstr>
      <vt:lpstr>PAMGOLET JUST DRINK LTD DASHBOARD</vt:lpstr>
      <vt:lpstr>Sales Breakdown</vt:lpstr>
      <vt:lpstr>Top 5 Most Popular Sizes by Sales and Quantity</vt:lpstr>
      <vt:lpstr>Store with The Highest and Lowest Sales Price</vt:lpstr>
      <vt:lpstr>Top Vendors and Store Profitability</vt:lpstr>
      <vt:lpstr>Supplier Impact and Scale Overview</vt:lpstr>
      <vt:lpstr>Monthly Trend of Vendors Purchases</vt:lpstr>
      <vt:lpstr>Month-to-Month Patterns</vt:lpstr>
      <vt:lpstr>Inventory Purchase Vs Sales</vt:lpstr>
      <vt:lpstr>Inventory Turnover</vt:lpstr>
      <vt:lpstr>Product With Most Profit/Size with most sales and value</vt:lpstr>
      <vt:lpstr>Product With Most Shelf Time</vt:lpstr>
      <vt:lpstr>Vendor Profitability and Selling Price Variations</vt:lpstr>
      <vt:lpstr>Store With Highest Selling Value</vt:lpstr>
      <vt:lpstr>Correlation Between Inventory Turnover and Profit Margin</vt:lpstr>
      <vt:lpstr>Recommendations</vt:lpstr>
      <vt:lpstr>Recommendations</vt:lpstr>
      <vt:lpstr>Recommendations</vt:lpstr>
      <vt:lpstr>Recommendations</vt:lpstr>
      <vt:lpstr>OVERALL DASHBOARDS</vt:lpstr>
      <vt:lpstr>PowerPoint Presentation</vt:lpstr>
      <vt:lpstr>PowerPoint Presentation</vt:lpstr>
      <vt:lpstr>PowerPoint Presentation</vt:lpstr>
      <vt:lpstr>PowerPoint Presentation</vt:lpstr>
      <vt:lpstr>PowerPoint Presentation</vt:lpstr>
      <vt:lpstr>PowerPoint Presentation</vt:lpstr>
      <vt:lpstr>THANK YOU FOR YOUR KEEN ATTENTION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PAMGOLET JUST DRINK LTD DASHBOARD</dc:title>
  <dc:creator>VIVOBOOK</dc:creator>
  <cp:lastModifiedBy>VIVOBOOK</cp:lastModifiedBy>
  <cp:revision>51</cp:revision>
  <dcterms:created xsi:type="dcterms:W3CDTF">2006-08-16T00:00:00Z</dcterms:created>
  <dcterms:modified xsi:type="dcterms:W3CDTF">2026-02-08T21:04:57Z</dcterms:modified>
</cp:coreProperties>
</file>